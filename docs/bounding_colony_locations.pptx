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68" r:id="rId6"/>
    <p:sldId id="263" r:id="rId7"/>
    <p:sldId id="267" r:id="rId8"/>
    <p:sldId id="260" r:id="rId9"/>
    <p:sldId id="262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09"/>
    <p:restoredTop sz="94720"/>
  </p:normalViewPr>
  <p:slideViewPr>
    <p:cSldViewPr snapToGrid="0">
      <p:cViewPr varScale="1">
        <p:scale>
          <a:sx n="81" d="100"/>
          <a:sy n="81" d="100"/>
        </p:scale>
        <p:origin x="216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EBBE-F51A-DB4A-DB46-25116A2E6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64C025-6239-F455-EECF-45F4ED723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6C4C47-0BD0-F895-492D-5B7529260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A2967-9493-5A86-6693-F7751746C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B2A7-8AEF-1771-AFBA-142C7527A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812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D8875-55AE-4204-E34A-CAB6CFCD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13108-3112-5359-6C87-33FF03AE3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5F458-2C5C-6209-C93F-5BA1E47E9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D1CF3-CE87-8284-218B-83416FA9F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6645A-C3AF-14D8-9386-1A8A4303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65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D4A5-50D5-EF7D-7CB0-D58E8EA5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A926C-2C5D-A56D-0E39-376770B3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11BF8-B5DB-3689-4C01-1696BFDC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519B2-972C-9C50-4C28-24D06838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B7F1-02F6-5D9F-1186-44FEC9257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525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DF9D-4877-8857-D76C-71C891655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C22E3-92DE-B07C-4F91-35FFEA755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8F696-194A-57B7-540B-452413F2D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FC4A6-574E-4F4F-A245-636B8AA7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0C39B-60C4-F133-706F-466B5C8F6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08754-4E95-1CD0-E488-B2E4E6418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887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2BF04-EBA6-180E-C4FD-28ED21F0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DB35A-507E-D9FA-D0E8-A07CDB69E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57654-7CDF-868B-9F8A-E071BFD4C0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86F39E-88C2-FB61-6779-D12EA5CE1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747B8-6011-AFB3-2A20-21968F727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446493-3840-43A6-AE82-F5E5FFE60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45C3C-5903-B6D5-EFC0-A4A795D6B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82123-25D4-1FAF-77A2-E2D8E92E0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0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22DB5-C49D-BCEE-F241-ABC3DBDEC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860E24-14B3-6953-62ED-AA137A61D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247050-A1BC-1983-4E85-DA6858E6A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78818-10AF-4EC8-437F-75F714CA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780D2-4E9A-B597-9EEE-3DDA9CD3E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2D7BCD-C6D5-9473-C8A9-F92855E8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C3203-131A-C956-8BB6-DE84C32A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263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2828C-48F2-D50A-E47D-FBB246204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A8397-BCD5-1BD0-72C5-E3BC6ED0F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E2D278-62C6-37B1-9369-8B1AEAF2E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C5DDE-A7DB-FC08-B26D-821CC35F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95B9E-7C4D-F360-DC41-8AF3102A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34910D-A7E3-F6D6-4BFD-9EBEE3BA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69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2E5EB-1C9E-719F-27F3-F0665219F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AB5C22-5A6F-5AC2-CB54-71D5F3E2D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ADEB5-B239-064B-44F5-EE1F31BD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29DC40-372C-5F50-0B33-9706F308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9AE2EA-164F-AE75-66DD-1F0D320B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E52A8A-F993-AA89-5B50-9EAA0CE49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872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99239-6E6C-8F68-03E0-32CBEE4E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78A27-51B6-1705-D0AE-F0D095825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0EACB-BD00-507A-1AA1-2D6CB9AA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24B31A-6DAB-E091-C330-8E38218F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E2808-CB57-42AF-0A5F-3EC11A0A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60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0AC7F0-6119-2AFD-7991-21678325F0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6C3CA-35F3-5D63-EEA3-EB781A744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C1BE2-6B4E-FBEE-8F6C-7BE3DD359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86CCE-6F02-D85E-A0DD-1526E464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8AFB-6D15-D774-39A6-8B2F05EDE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80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1AC5B7-6BAA-4574-36AC-1A5489A1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7D02-5645-7325-C5A3-7F11ECC49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D1C9-62B0-6DAC-64A2-7B568AFCA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F82DB1-D9D0-3542-AF12-03547E78E5C6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31EB-FB51-2C58-D8E9-048A34DC1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5F731-F443-F8BA-0DDB-F2A129204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92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jpg"/><Relationship Id="rId4" Type="http://schemas.openxmlformats.org/officeDocument/2006/relationships/image" Target="../media/image7.png"/><Relationship Id="rId9" Type="http://schemas.openxmlformats.org/officeDocument/2006/relationships/image" Target="../media/image11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6.png"/><Relationship Id="rId7" Type="http://schemas.openxmlformats.org/officeDocument/2006/relationships/image" Target="../media/image13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/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 = −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ik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den>
                          </m:f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blipFill>
                <a:blip r:embed="rId2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/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lognormal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(0.5), 0.5)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blipFill>
                <a:blip r:embed="rId3"/>
                <a:stretch>
                  <a:fillRect l="-1923" t="-4348" r="-2885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/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1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multinomial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/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blipFill>
                <a:blip r:embed="rId5"/>
                <a:stretch>
                  <a:fillRect t="-9524" b="-7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8904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/>
              <p:nvPr/>
            </p:nvSpPr>
            <p:spPr>
              <a:xfrm>
                <a:off x="427705" y="4356420"/>
                <a:ext cx="2007408" cy="4594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normal</m:t>
                          </m:r>
                        </m:e>
                        <m:sup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2.58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05" y="4356420"/>
                <a:ext cx="2007408" cy="459421"/>
              </a:xfrm>
              <a:prstGeom prst="rect">
                <a:avLst/>
              </a:prstGeom>
              <a:blipFill>
                <a:blip r:embed="rId2"/>
                <a:stretch>
                  <a:fillRect l="-1887" t="-5405" r="-3774" b="-13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3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/>
              <p:nvPr/>
            </p:nvSpPr>
            <p:spPr>
              <a:xfrm>
                <a:off x="164873" y="1136464"/>
                <a:ext cx="213673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∗∗(0,</m:t>
                      </m:r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73" y="1136464"/>
                <a:ext cx="2136739" cy="246221"/>
              </a:xfrm>
              <a:prstGeom prst="rect">
                <a:avLst/>
              </a:prstGeom>
              <a:blipFill>
                <a:blip r:embed="rId4"/>
                <a:stretch>
                  <a:fillRect l="-1765" r="-2941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/>
              <p:nvPr/>
            </p:nvSpPr>
            <p:spPr>
              <a:xfrm>
                <a:off x="574448" y="1382685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0.424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48" y="1382685"/>
                <a:ext cx="1328825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947E34AE-6A49-3464-0748-D21CE5504FC2}"/>
              </a:ext>
            </a:extLst>
          </p:cNvPr>
          <p:cNvSpPr txBox="1"/>
          <p:nvPr/>
        </p:nvSpPr>
        <p:spPr>
          <a:xfrm>
            <a:off x="237261" y="3264564"/>
            <a:ext cx="26032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**target+=-log(1+exp(100*(x-</a:t>
            </a:r>
            <a:r>
              <a:rPr lang="en-US" sz="1200" dirty="0" err="1"/>
              <a:t>Rmax</a:t>
            </a:r>
            <a:r>
              <a:rPr lang="en-US" sz="1200" dirty="0"/>
              <a:t>)))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136E79A-E201-32F3-D4D8-D81AB976D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545" y="1690232"/>
            <a:ext cx="2311468" cy="154097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28F86E7-5B16-6054-0F08-F7D2CB1FFB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4545" y="4893734"/>
            <a:ext cx="2527361" cy="16849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/>
              <p:nvPr/>
            </p:nvSpPr>
            <p:spPr>
              <a:xfrm>
                <a:off x="758297" y="4808434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0.280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97" y="4808434"/>
                <a:ext cx="1328825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7543EA09-3161-E2BA-6C54-BFE1255FF2B1}"/>
              </a:ext>
            </a:extLst>
          </p:cNvPr>
          <p:cNvSpPr txBox="1"/>
          <p:nvPr/>
        </p:nvSpPr>
        <p:spPr>
          <a:xfrm>
            <a:off x="574448" y="562904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Rmax</a:t>
            </a:r>
            <a:r>
              <a:rPr lang="en-US" dirty="0"/>
              <a:t> = 2</a:t>
            </a:r>
          </a:p>
        </p:txBody>
      </p:sp>
      <p:pic>
        <p:nvPicPr>
          <p:cNvPr id="40" name="Picture 39" descr="A row of green dots&#10;&#10;AI-generated content may be incorrect.">
            <a:extLst>
              <a:ext uri="{FF2B5EF4-FFF2-40B4-BE49-F238E27FC236}">
                <a16:creationId xmlns:a16="http://schemas.microsoft.com/office/drawing/2014/main" id="{6CC38E14-4F9E-520C-AA4E-B40F4C76958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32512" b="31081"/>
          <a:stretch>
            <a:fillRect/>
          </a:stretch>
        </p:blipFill>
        <p:spPr>
          <a:xfrm>
            <a:off x="3066725" y="932236"/>
            <a:ext cx="8888014" cy="3033584"/>
          </a:xfrm>
          <a:prstGeom prst="rect">
            <a:avLst/>
          </a:prstGeom>
        </p:spPr>
      </p:pic>
      <p:pic>
        <p:nvPicPr>
          <p:cNvPr id="42" name="Picture 41" descr="A row of green dots&#10;&#10;AI-generated content may be incorrect.">
            <a:extLst>
              <a:ext uri="{FF2B5EF4-FFF2-40B4-BE49-F238E27FC236}">
                <a16:creationId xmlns:a16="http://schemas.microsoft.com/office/drawing/2014/main" id="{7AAD5D36-1BD6-09EA-2660-F526E656E9C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31892" b="32973"/>
          <a:stretch>
            <a:fillRect/>
          </a:stretch>
        </p:blipFill>
        <p:spPr>
          <a:xfrm>
            <a:off x="2905908" y="3824416"/>
            <a:ext cx="9209648" cy="303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492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B806-5018-CDB3-8FCC-21B52ACC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8B51F9-31BB-B49B-51FF-8E41578541D7}"/>
                  </a:ext>
                </a:extLst>
              </p:cNvPr>
              <p:cNvSpPr txBox="1"/>
              <p:nvPr/>
            </p:nvSpPr>
            <p:spPr>
              <a:xfrm>
                <a:off x="434302" y="4900117"/>
                <a:ext cx="2007408" cy="4594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normal</m:t>
                          </m:r>
                        </m:e>
                        <m:sup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2.58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8B51F9-31BB-B49B-51FF-8E4157854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02" y="4900117"/>
                <a:ext cx="2007408" cy="459421"/>
              </a:xfrm>
              <a:prstGeom prst="rect">
                <a:avLst/>
              </a:prstGeom>
              <a:blipFill>
                <a:blip r:embed="rId2"/>
                <a:stretch>
                  <a:fillRect l="-2516" t="-2703" r="-3145"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4BC870-EC5F-812B-AD52-90EA125DCA48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4BC870-EC5F-812B-AD52-90EA125DC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3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444616-B4E3-528F-44A7-E204D8DF84D3}"/>
                  </a:ext>
                </a:extLst>
              </p:cNvPr>
              <p:cNvSpPr txBox="1"/>
              <p:nvPr/>
            </p:nvSpPr>
            <p:spPr>
              <a:xfrm>
                <a:off x="679850" y="5359538"/>
                <a:ext cx="132882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3</m:t>
                      </m:r>
                    </m:oMath>
                  </m:oMathPara>
                </a14:m>
                <a:endParaRPr lang="en-CA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0.388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444616-B4E3-528F-44A7-E204D8DF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50" y="5359538"/>
                <a:ext cx="1328825" cy="646331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5E08EEE-55D2-318B-B824-FA5A4FCDE75D}"/>
                  </a:ext>
                </a:extLst>
              </p:cNvPr>
              <p:cNvSpPr txBox="1"/>
              <p:nvPr/>
            </p:nvSpPr>
            <p:spPr>
              <a:xfrm>
                <a:off x="286021" y="1498462"/>
                <a:ext cx="2007408" cy="4594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normal</m:t>
                          </m:r>
                        </m:e>
                        <m:sup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2.58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5E08EEE-55D2-318B-B824-FA5A4FCDE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1498462"/>
                <a:ext cx="2007408" cy="459421"/>
              </a:xfrm>
              <a:prstGeom prst="rect">
                <a:avLst/>
              </a:prstGeom>
              <a:blipFill>
                <a:blip r:embed="rId5"/>
                <a:stretch>
                  <a:fillRect l="-1887" t="-2703" r="-3145" b="-13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000832B-BE9C-6049-44BF-EBCEA3E0755C}"/>
                  </a:ext>
                </a:extLst>
              </p:cNvPr>
              <p:cNvSpPr txBox="1"/>
              <p:nvPr/>
            </p:nvSpPr>
            <p:spPr>
              <a:xfrm>
                <a:off x="625312" y="1957883"/>
                <a:ext cx="13672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1</m:t>
                      </m:r>
                    </m:oMath>
                  </m:oMathPara>
                </a14:m>
                <a:endParaRPr lang="en-CA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 166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000832B-BE9C-6049-44BF-EBCEA3E07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2" y="1957883"/>
                <a:ext cx="1367297" cy="646331"/>
              </a:xfrm>
              <a:prstGeom prst="rect">
                <a:avLst/>
              </a:prstGeom>
              <a:blipFill>
                <a:blip r:embed="rId6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row of graphs showing a number of data&#10;&#10;AI-generated content may be incorrect.">
            <a:extLst>
              <a:ext uri="{FF2B5EF4-FFF2-40B4-BE49-F238E27FC236}">
                <a16:creationId xmlns:a16="http://schemas.microsoft.com/office/drawing/2014/main" id="{D374E0DD-0DBE-8119-9C43-D3FB4C6B78D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1553" b="32862"/>
          <a:stretch>
            <a:fillRect/>
          </a:stretch>
        </p:blipFill>
        <p:spPr>
          <a:xfrm>
            <a:off x="2632720" y="397842"/>
            <a:ext cx="9352346" cy="3120081"/>
          </a:xfrm>
          <a:prstGeom prst="rect">
            <a:avLst/>
          </a:prstGeom>
        </p:spPr>
      </p:pic>
      <p:pic>
        <p:nvPicPr>
          <p:cNvPr id="9" name="Picture 8" descr="A row of green dots&#10;&#10;AI-generated content may be incorrect.">
            <a:extLst>
              <a:ext uri="{FF2B5EF4-FFF2-40B4-BE49-F238E27FC236}">
                <a16:creationId xmlns:a16="http://schemas.microsoft.com/office/drawing/2014/main" id="{839BAC2E-2AFE-6190-8CF3-577A98CE21A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2072" b="32793"/>
          <a:stretch>
            <a:fillRect/>
          </a:stretch>
        </p:blipFill>
        <p:spPr>
          <a:xfrm>
            <a:off x="2632720" y="3799498"/>
            <a:ext cx="9472245" cy="31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548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0F8382-1296-DAF8-E174-9DE764209E6C}"/>
              </a:ext>
            </a:extLst>
          </p:cNvPr>
          <p:cNvSpPr txBox="1"/>
          <p:nvPr/>
        </p:nvSpPr>
        <p:spPr>
          <a:xfrm>
            <a:off x="0" y="317748"/>
            <a:ext cx="7115503" cy="654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** not technically uniform, as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target +=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uniform_lpdf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(dis[k] | 0,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200" dirty="0"/>
              <a:t>fails initialization</a:t>
            </a:r>
          </a:p>
          <a:p>
            <a:endParaRPr lang="en-US" sz="1200" dirty="0"/>
          </a:p>
          <a:p>
            <a:r>
              <a:rPr lang="en-US" sz="1200" dirty="0"/>
              <a:t>This is because the target is supplemented after sampling, which means that if a sample outside of [0,Rmax] is drawn, target = -Inf</a:t>
            </a:r>
          </a:p>
          <a:p>
            <a:endParaRPr lang="en-US" sz="1200" dirty="0"/>
          </a:p>
          <a:p>
            <a:r>
              <a:rPr lang="en-US" sz="1200" dirty="0"/>
              <a:t>We also cannot constrain in the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transformed parameters </a:t>
            </a:r>
            <a:r>
              <a:rPr lang="en-US" sz="1200" dirty="0">
                <a:cs typeface="Courier New" panose="02070309020205020404" pitchFamily="49" charset="0"/>
              </a:rPr>
              <a:t>block (e.g.,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vector&lt;lower=0, upper=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&gt;[O] dis;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Because </a:t>
            </a:r>
            <a:r>
              <a:rPr lang="en-US" sz="1200" dirty="0" err="1">
                <a:cs typeface="Courier New" panose="02070309020205020404" pitchFamily="49" charset="0"/>
              </a:rPr>
              <a:t>transpars</a:t>
            </a:r>
            <a:r>
              <a:rPr lang="en-US" sz="1200" dirty="0">
                <a:cs typeface="Courier New" panose="02070309020205020404" pitchFamily="49" charset="0"/>
              </a:rPr>
              <a:t> </a:t>
            </a:r>
            <a:r>
              <a:rPr lang="en-US" sz="1200" dirty="0" err="1">
                <a:cs typeface="Courier New" panose="02070309020205020404" pitchFamily="49" charset="0"/>
              </a:rPr>
              <a:t>contraints</a:t>
            </a:r>
            <a:r>
              <a:rPr lang="en-US" sz="1200" dirty="0">
                <a:cs typeface="Courier New" panose="02070309020205020404" pitchFamily="49" charset="0"/>
              </a:rPr>
              <a:t> are also applied post-sampling, so the sampler again fails initialization (albeit with a more useful warning message…)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A third alternative would be to perform a transformation on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delta_y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dirty="0">
                <a:cs typeface="Courier New" panose="02070309020205020404" pitchFamily="49" charset="0"/>
              </a:rPr>
              <a:t>to achieve the desired distribution of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dis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In the case where each colony is captured at a single trap, this is relatively straightforward. We can sample location parameters using radial coordinates: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</a:t>
            </a:r>
            <a:r>
              <a:rPr lang="en-US" sz="1200" dirty="0" err="1">
                <a:cs typeface="Courier New" panose="02070309020205020404" pitchFamily="49" charset="0"/>
              </a:rPr>
              <a:t>Rmax</a:t>
            </a:r>
            <a:r>
              <a:rPr lang="en-US" sz="1200" dirty="0">
                <a:cs typeface="Courier New" panose="02070309020205020404" pitchFamily="49" charset="0"/>
              </a:rPr>
              <a:t>&gt;[C] r;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upper=2*pi()&gt;[C] theta;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Then transform to cartesian coordinates and add the trap coordinates as a reference point to position the location within the greater map area: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transformed 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for (c in C){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trap_x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rcos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trap_y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rsin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However for the multiple trap case, the permissible area becomes an intersection of circles (see right)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/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∗∗(0,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blipFill>
                <a:blip r:embed="rId2"/>
                <a:stretch>
                  <a:fillRect l="-2105" t="-4545" r="-3158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5646C824-2F8F-AA68-081B-5360F9681CEF}"/>
              </a:ext>
            </a:extLst>
          </p:cNvPr>
          <p:cNvSpPr/>
          <p:nvPr/>
        </p:nvSpPr>
        <p:spPr>
          <a:xfrm>
            <a:off x="7641021" y="966952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AAA135-C572-340A-C9CC-688C04379909}"/>
              </a:ext>
            </a:extLst>
          </p:cNvPr>
          <p:cNvSpPr/>
          <p:nvPr/>
        </p:nvSpPr>
        <p:spPr>
          <a:xfrm>
            <a:off x="8602717" y="966951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5F20D7A-0FBA-EAE5-C23E-4B52398BFDA5}"/>
              </a:ext>
            </a:extLst>
          </p:cNvPr>
          <p:cNvCxnSpPr>
            <a:stCxn id="7" idx="2"/>
            <a:endCxn id="6" idx="2"/>
          </p:cNvCxnSpPr>
          <p:nvPr/>
        </p:nvCxnSpPr>
        <p:spPr>
          <a:xfrm flipH="1">
            <a:off x="7641021" y="1928648"/>
            <a:ext cx="961696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D27208-8AFF-3544-190E-B825240F32BE}"/>
              </a:ext>
            </a:extLst>
          </p:cNvPr>
          <p:cNvSpPr txBox="1"/>
          <p:nvPr/>
        </p:nvSpPr>
        <p:spPr>
          <a:xfrm>
            <a:off x="7765254" y="1620870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Rmax</a:t>
            </a:r>
            <a:endParaRPr lang="en-US" sz="1400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FA8C8ECB-F666-B3C7-E051-A2740CCDEDAC}"/>
              </a:ext>
            </a:extLst>
          </p:cNvPr>
          <p:cNvSpPr/>
          <p:nvPr/>
        </p:nvSpPr>
        <p:spPr>
          <a:xfrm>
            <a:off x="8518265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560113BB-2EC8-2216-BCD2-2F522EA271A7}"/>
              </a:ext>
            </a:extLst>
          </p:cNvPr>
          <p:cNvSpPr/>
          <p:nvPr/>
        </p:nvSpPr>
        <p:spPr>
          <a:xfrm>
            <a:off x="9470581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EC2330B-3415-FEBA-C29D-4E2AFE1BF383}"/>
              </a:ext>
            </a:extLst>
          </p:cNvPr>
          <p:cNvSpPr/>
          <p:nvPr/>
        </p:nvSpPr>
        <p:spPr>
          <a:xfrm>
            <a:off x="8657079" y="1282262"/>
            <a:ext cx="707638" cy="1378890"/>
          </a:xfrm>
          <a:custGeom>
            <a:avLst/>
            <a:gdLst>
              <a:gd name="csX0" fmla="*/ 203142 w 707638"/>
              <a:gd name="csY0" fmla="*/ 94593 h 1378890"/>
              <a:gd name="csX1" fmla="*/ 318755 w 707638"/>
              <a:gd name="csY1" fmla="*/ 21021 h 1378890"/>
              <a:gd name="csX2" fmla="*/ 350287 w 707638"/>
              <a:gd name="csY2" fmla="*/ 0 h 1378890"/>
              <a:gd name="csX3" fmla="*/ 360797 w 707638"/>
              <a:gd name="csY3" fmla="*/ 31531 h 1378890"/>
              <a:gd name="csX4" fmla="*/ 329266 w 707638"/>
              <a:gd name="csY4" fmla="*/ 126124 h 1378890"/>
              <a:gd name="csX5" fmla="*/ 297735 w 707638"/>
              <a:gd name="csY5" fmla="*/ 157655 h 1378890"/>
              <a:gd name="csX6" fmla="*/ 213652 w 707638"/>
              <a:gd name="csY6" fmla="*/ 252248 h 1378890"/>
              <a:gd name="csX7" fmla="*/ 171611 w 707638"/>
              <a:gd name="csY7" fmla="*/ 273269 h 1378890"/>
              <a:gd name="csX8" fmla="*/ 140080 w 707638"/>
              <a:gd name="csY8" fmla="*/ 304800 h 1378890"/>
              <a:gd name="csX9" fmla="*/ 108549 w 707638"/>
              <a:gd name="csY9" fmla="*/ 325821 h 1378890"/>
              <a:gd name="csX10" fmla="*/ 87528 w 707638"/>
              <a:gd name="csY10" fmla="*/ 357352 h 1378890"/>
              <a:gd name="csX11" fmla="*/ 55997 w 707638"/>
              <a:gd name="csY11" fmla="*/ 409904 h 1378890"/>
              <a:gd name="csX12" fmla="*/ 24466 w 707638"/>
              <a:gd name="csY12" fmla="*/ 441435 h 1378890"/>
              <a:gd name="csX13" fmla="*/ 3445 w 707638"/>
              <a:gd name="csY13" fmla="*/ 472966 h 1378890"/>
              <a:gd name="csX14" fmla="*/ 87528 w 707638"/>
              <a:gd name="csY14" fmla="*/ 399393 h 1378890"/>
              <a:gd name="csX15" fmla="*/ 119059 w 707638"/>
              <a:gd name="csY15" fmla="*/ 357352 h 1378890"/>
              <a:gd name="csX16" fmla="*/ 192631 w 707638"/>
              <a:gd name="csY16" fmla="*/ 283779 h 1378890"/>
              <a:gd name="csX17" fmla="*/ 234673 w 707638"/>
              <a:gd name="csY17" fmla="*/ 241738 h 1378890"/>
              <a:gd name="csX18" fmla="*/ 266204 w 707638"/>
              <a:gd name="csY18" fmla="*/ 210207 h 1378890"/>
              <a:gd name="csX19" fmla="*/ 392328 w 707638"/>
              <a:gd name="csY19" fmla="*/ 126124 h 1378890"/>
              <a:gd name="csX20" fmla="*/ 423859 w 707638"/>
              <a:gd name="csY20" fmla="*/ 105104 h 1378890"/>
              <a:gd name="csX21" fmla="*/ 455390 w 707638"/>
              <a:gd name="csY21" fmla="*/ 84083 h 1378890"/>
              <a:gd name="csX22" fmla="*/ 465900 w 707638"/>
              <a:gd name="csY22" fmla="*/ 115614 h 1378890"/>
              <a:gd name="csX23" fmla="*/ 413349 w 707638"/>
              <a:gd name="csY23" fmla="*/ 210207 h 1378890"/>
              <a:gd name="csX24" fmla="*/ 392328 w 707638"/>
              <a:gd name="csY24" fmla="*/ 252248 h 1378890"/>
              <a:gd name="csX25" fmla="*/ 360797 w 707638"/>
              <a:gd name="csY25" fmla="*/ 304800 h 1378890"/>
              <a:gd name="csX26" fmla="*/ 329266 w 707638"/>
              <a:gd name="csY26" fmla="*/ 346841 h 1378890"/>
              <a:gd name="csX27" fmla="*/ 266204 w 707638"/>
              <a:gd name="csY27" fmla="*/ 472966 h 1378890"/>
              <a:gd name="csX28" fmla="*/ 245183 w 707638"/>
              <a:gd name="csY28" fmla="*/ 515007 h 1378890"/>
              <a:gd name="csX29" fmla="*/ 234673 w 707638"/>
              <a:gd name="csY29" fmla="*/ 546538 h 1378890"/>
              <a:gd name="csX30" fmla="*/ 224162 w 707638"/>
              <a:gd name="csY30" fmla="*/ 588579 h 1378890"/>
              <a:gd name="csX31" fmla="*/ 203142 w 707638"/>
              <a:gd name="csY31" fmla="*/ 620110 h 1378890"/>
              <a:gd name="csX32" fmla="*/ 171611 w 707638"/>
              <a:gd name="csY32" fmla="*/ 693683 h 1378890"/>
              <a:gd name="csX33" fmla="*/ 150590 w 707638"/>
              <a:gd name="csY33" fmla="*/ 725214 h 1378890"/>
              <a:gd name="csX34" fmla="*/ 129569 w 707638"/>
              <a:gd name="csY34" fmla="*/ 788276 h 1378890"/>
              <a:gd name="csX35" fmla="*/ 213652 w 707638"/>
              <a:gd name="csY35" fmla="*/ 672662 h 1378890"/>
              <a:gd name="csX36" fmla="*/ 287224 w 707638"/>
              <a:gd name="csY36" fmla="*/ 557048 h 1378890"/>
              <a:gd name="csX37" fmla="*/ 465900 w 707638"/>
              <a:gd name="csY37" fmla="*/ 346841 h 1378890"/>
              <a:gd name="csX38" fmla="*/ 602535 w 707638"/>
              <a:gd name="csY38" fmla="*/ 220717 h 1378890"/>
              <a:gd name="csX39" fmla="*/ 634066 w 707638"/>
              <a:gd name="csY39" fmla="*/ 241738 h 1378890"/>
              <a:gd name="csX40" fmla="*/ 613045 w 707638"/>
              <a:gd name="csY40" fmla="*/ 294290 h 1378890"/>
              <a:gd name="csX41" fmla="*/ 549983 w 707638"/>
              <a:gd name="csY41" fmla="*/ 399393 h 1378890"/>
              <a:gd name="csX42" fmla="*/ 497431 w 707638"/>
              <a:gd name="csY42" fmla="*/ 493986 h 1378890"/>
              <a:gd name="csX43" fmla="*/ 465900 w 707638"/>
              <a:gd name="csY43" fmla="*/ 588579 h 1378890"/>
              <a:gd name="csX44" fmla="*/ 434369 w 707638"/>
              <a:gd name="csY44" fmla="*/ 683172 h 1378890"/>
              <a:gd name="csX45" fmla="*/ 402838 w 707638"/>
              <a:gd name="csY45" fmla="*/ 756745 h 1378890"/>
              <a:gd name="csX46" fmla="*/ 381818 w 707638"/>
              <a:gd name="csY46" fmla="*/ 830317 h 1378890"/>
              <a:gd name="csX47" fmla="*/ 360797 w 707638"/>
              <a:gd name="csY47" fmla="*/ 861848 h 1378890"/>
              <a:gd name="csX48" fmla="*/ 308245 w 707638"/>
              <a:gd name="csY48" fmla="*/ 935421 h 1378890"/>
              <a:gd name="csX49" fmla="*/ 297735 w 707638"/>
              <a:gd name="csY49" fmla="*/ 966952 h 1378890"/>
              <a:gd name="csX50" fmla="*/ 287224 w 707638"/>
              <a:gd name="csY50" fmla="*/ 1008993 h 1378890"/>
              <a:gd name="csX51" fmla="*/ 255693 w 707638"/>
              <a:gd name="csY51" fmla="*/ 1051035 h 1378890"/>
              <a:gd name="csX52" fmla="*/ 213652 w 707638"/>
              <a:gd name="csY52" fmla="*/ 1114097 h 1378890"/>
              <a:gd name="csX53" fmla="*/ 266204 w 707638"/>
              <a:gd name="csY53" fmla="*/ 1040524 h 1378890"/>
              <a:gd name="csX54" fmla="*/ 297735 w 707638"/>
              <a:gd name="csY54" fmla="*/ 998483 h 1378890"/>
              <a:gd name="csX55" fmla="*/ 329266 w 707638"/>
              <a:gd name="csY55" fmla="*/ 945931 h 1378890"/>
              <a:gd name="csX56" fmla="*/ 371307 w 707638"/>
              <a:gd name="csY56" fmla="*/ 893379 h 1378890"/>
              <a:gd name="csX57" fmla="*/ 402838 w 707638"/>
              <a:gd name="csY57" fmla="*/ 840828 h 1378890"/>
              <a:gd name="csX58" fmla="*/ 444880 w 707638"/>
              <a:gd name="csY58" fmla="*/ 798786 h 1378890"/>
              <a:gd name="csX59" fmla="*/ 497431 w 707638"/>
              <a:gd name="csY59" fmla="*/ 714704 h 1378890"/>
              <a:gd name="csX60" fmla="*/ 528962 w 707638"/>
              <a:gd name="csY60" fmla="*/ 683172 h 1378890"/>
              <a:gd name="csX61" fmla="*/ 571004 w 707638"/>
              <a:gd name="csY61" fmla="*/ 620110 h 1378890"/>
              <a:gd name="csX62" fmla="*/ 644576 w 707638"/>
              <a:gd name="csY62" fmla="*/ 578069 h 1378890"/>
              <a:gd name="csX63" fmla="*/ 655087 w 707638"/>
              <a:gd name="csY63" fmla="*/ 641131 h 1378890"/>
              <a:gd name="csX64" fmla="*/ 613045 w 707638"/>
              <a:gd name="csY64" fmla="*/ 746235 h 1378890"/>
              <a:gd name="csX65" fmla="*/ 581514 w 707638"/>
              <a:gd name="csY65" fmla="*/ 819807 h 1378890"/>
              <a:gd name="csX66" fmla="*/ 549983 w 707638"/>
              <a:gd name="csY66" fmla="*/ 893379 h 1378890"/>
              <a:gd name="csX67" fmla="*/ 486921 w 707638"/>
              <a:gd name="csY67" fmla="*/ 1019504 h 1378890"/>
              <a:gd name="csX68" fmla="*/ 423859 w 707638"/>
              <a:gd name="csY68" fmla="*/ 1124607 h 1378890"/>
              <a:gd name="csX69" fmla="*/ 392328 w 707638"/>
              <a:gd name="csY69" fmla="*/ 1208690 h 1378890"/>
              <a:gd name="csX70" fmla="*/ 360797 w 707638"/>
              <a:gd name="csY70" fmla="*/ 1303283 h 1378890"/>
              <a:gd name="csX71" fmla="*/ 339776 w 707638"/>
              <a:gd name="csY71" fmla="*/ 1376855 h 1378890"/>
              <a:gd name="csX72" fmla="*/ 371307 w 707638"/>
              <a:gd name="csY72" fmla="*/ 1355835 h 1378890"/>
              <a:gd name="csX73" fmla="*/ 434369 w 707638"/>
              <a:gd name="csY73" fmla="*/ 1271752 h 1378890"/>
              <a:gd name="csX74" fmla="*/ 465900 w 707638"/>
              <a:gd name="csY74" fmla="*/ 1229710 h 1378890"/>
              <a:gd name="csX75" fmla="*/ 497431 w 707638"/>
              <a:gd name="csY75" fmla="*/ 1198179 h 1378890"/>
              <a:gd name="csX76" fmla="*/ 518452 w 707638"/>
              <a:gd name="csY76" fmla="*/ 1156138 h 1378890"/>
              <a:gd name="csX77" fmla="*/ 581514 w 707638"/>
              <a:gd name="csY77" fmla="*/ 1082566 h 1378890"/>
              <a:gd name="csX78" fmla="*/ 623555 w 707638"/>
              <a:gd name="csY78" fmla="*/ 1019504 h 1378890"/>
              <a:gd name="csX79" fmla="*/ 634066 w 707638"/>
              <a:gd name="csY79" fmla="*/ 987972 h 1378890"/>
              <a:gd name="csX80" fmla="*/ 697128 w 707638"/>
              <a:gd name="csY80" fmla="*/ 945931 h 1378890"/>
              <a:gd name="csX81" fmla="*/ 707638 w 707638"/>
              <a:gd name="csY81" fmla="*/ 987972 h 1378890"/>
              <a:gd name="csX82" fmla="*/ 665597 w 707638"/>
              <a:gd name="csY82" fmla="*/ 1082566 h 1378890"/>
              <a:gd name="csX83" fmla="*/ 644576 w 707638"/>
              <a:gd name="csY83" fmla="*/ 1114097 h 1378890"/>
              <a:gd name="csX84" fmla="*/ 592024 w 707638"/>
              <a:gd name="csY84" fmla="*/ 1177159 h 1378890"/>
              <a:gd name="csX85" fmla="*/ 592024 w 707638"/>
              <a:gd name="csY85" fmla="*/ 1187669 h 1378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</a:cxnLst>
            <a:rect l="l" t="t" r="r" b="b"/>
            <a:pathLst>
              <a:path w="707638" h="1378890">
                <a:moveTo>
                  <a:pt x="203142" y="94593"/>
                </a:moveTo>
                <a:cubicBezTo>
                  <a:pt x="277358" y="50063"/>
                  <a:pt x="238694" y="74395"/>
                  <a:pt x="318755" y="21021"/>
                </a:cubicBezTo>
                <a:lnTo>
                  <a:pt x="350287" y="0"/>
                </a:lnTo>
                <a:cubicBezTo>
                  <a:pt x="353790" y="10510"/>
                  <a:pt x="360797" y="20452"/>
                  <a:pt x="360797" y="31531"/>
                </a:cubicBezTo>
                <a:cubicBezTo>
                  <a:pt x="360797" y="49557"/>
                  <a:pt x="335948" y="115433"/>
                  <a:pt x="329266" y="126124"/>
                </a:cubicBezTo>
                <a:cubicBezTo>
                  <a:pt x="321388" y="138729"/>
                  <a:pt x="307251" y="146236"/>
                  <a:pt x="297735" y="157655"/>
                </a:cubicBezTo>
                <a:cubicBezTo>
                  <a:pt x="265999" y="195737"/>
                  <a:pt x="272054" y="223046"/>
                  <a:pt x="213652" y="252248"/>
                </a:cubicBezTo>
                <a:cubicBezTo>
                  <a:pt x="199638" y="259255"/>
                  <a:pt x="184360" y="264162"/>
                  <a:pt x="171611" y="273269"/>
                </a:cubicBezTo>
                <a:cubicBezTo>
                  <a:pt x="159516" y="281909"/>
                  <a:pt x="151499" y="295284"/>
                  <a:pt x="140080" y="304800"/>
                </a:cubicBezTo>
                <a:cubicBezTo>
                  <a:pt x="130376" y="312887"/>
                  <a:pt x="119059" y="318814"/>
                  <a:pt x="108549" y="325821"/>
                </a:cubicBezTo>
                <a:cubicBezTo>
                  <a:pt x="101542" y="336331"/>
                  <a:pt x="94223" y="346640"/>
                  <a:pt x="87528" y="357352"/>
                </a:cubicBezTo>
                <a:cubicBezTo>
                  <a:pt x="76701" y="374675"/>
                  <a:pt x="68254" y="393561"/>
                  <a:pt x="55997" y="409904"/>
                </a:cubicBezTo>
                <a:cubicBezTo>
                  <a:pt x="47079" y="421795"/>
                  <a:pt x="33982" y="430016"/>
                  <a:pt x="24466" y="441435"/>
                </a:cubicBezTo>
                <a:cubicBezTo>
                  <a:pt x="16379" y="451139"/>
                  <a:pt x="-9187" y="472966"/>
                  <a:pt x="3445" y="472966"/>
                </a:cubicBezTo>
                <a:cubicBezTo>
                  <a:pt x="17335" y="472966"/>
                  <a:pt x="82888" y="404696"/>
                  <a:pt x="87528" y="399393"/>
                </a:cubicBezTo>
                <a:cubicBezTo>
                  <a:pt x="99063" y="386210"/>
                  <a:pt x="107276" y="370314"/>
                  <a:pt x="119059" y="357352"/>
                </a:cubicBezTo>
                <a:cubicBezTo>
                  <a:pt x="142389" y="331689"/>
                  <a:pt x="168107" y="308303"/>
                  <a:pt x="192631" y="283779"/>
                </a:cubicBezTo>
                <a:lnTo>
                  <a:pt x="234673" y="241738"/>
                </a:lnTo>
                <a:cubicBezTo>
                  <a:pt x="245183" y="231228"/>
                  <a:pt x="253836" y="218452"/>
                  <a:pt x="266204" y="210207"/>
                </a:cubicBezTo>
                <a:lnTo>
                  <a:pt x="392328" y="126124"/>
                </a:lnTo>
                <a:lnTo>
                  <a:pt x="423859" y="105104"/>
                </a:lnTo>
                <a:lnTo>
                  <a:pt x="455390" y="84083"/>
                </a:lnTo>
                <a:cubicBezTo>
                  <a:pt x="458893" y="94593"/>
                  <a:pt x="467274" y="104621"/>
                  <a:pt x="465900" y="115614"/>
                </a:cubicBezTo>
                <a:cubicBezTo>
                  <a:pt x="460106" y="161967"/>
                  <a:pt x="436023" y="173929"/>
                  <a:pt x="413349" y="210207"/>
                </a:cubicBezTo>
                <a:cubicBezTo>
                  <a:pt x="405045" y="223493"/>
                  <a:pt x="399937" y="238552"/>
                  <a:pt x="392328" y="252248"/>
                </a:cubicBezTo>
                <a:cubicBezTo>
                  <a:pt x="382407" y="270106"/>
                  <a:pt x="372129" y="287802"/>
                  <a:pt x="360797" y="304800"/>
                </a:cubicBezTo>
                <a:cubicBezTo>
                  <a:pt x="351080" y="319375"/>
                  <a:pt x="338092" y="331710"/>
                  <a:pt x="329266" y="346841"/>
                </a:cubicBezTo>
                <a:cubicBezTo>
                  <a:pt x="329240" y="346885"/>
                  <a:pt x="276726" y="451922"/>
                  <a:pt x="266204" y="472966"/>
                </a:cubicBezTo>
                <a:cubicBezTo>
                  <a:pt x="259197" y="486980"/>
                  <a:pt x="250137" y="500143"/>
                  <a:pt x="245183" y="515007"/>
                </a:cubicBezTo>
                <a:cubicBezTo>
                  <a:pt x="241680" y="525517"/>
                  <a:pt x="237717" y="535885"/>
                  <a:pt x="234673" y="546538"/>
                </a:cubicBezTo>
                <a:cubicBezTo>
                  <a:pt x="230705" y="560427"/>
                  <a:pt x="229852" y="575302"/>
                  <a:pt x="224162" y="588579"/>
                </a:cubicBezTo>
                <a:cubicBezTo>
                  <a:pt x="219186" y="600189"/>
                  <a:pt x="209409" y="609143"/>
                  <a:pt x="203142" y="620110"/>
                </a:cubicBezTo>
                <a:cubicBezTo>
                  <a:pt x="115641" y="773240"/>
                  <a:pt x="230580" y="575745"/>
                  <a:pt x="171611" y="693683"/>
                </a:cubicBezTo>
                <a:cubicBezTo>
                  <a:pt x="165962" y="704981"/>
                  <a:pt x="157597" y="714704"/>
                  <a:pt x="150590" y="725214"/>
                </a:cubicBezTo>
                <a:cubicBezTo>
                  <a:pt x="143583" y="746235"/>
                  <a:pt x="116536" y="806196"/>
                  <a:pt x="129569" y="788276"/>
                </a:cubicBezTo>
                <a:cubicBezTo>
                  <a:pt x="157597" y="749738"/>
                  <a:pt x="188069" y="712864"/>
                  <a:pt x="213652" y="672662"/>
                </a:cubicBezTo>
                <a:cubicBezTo>
                  <a:pt x="238176" y="634124"/>
                  <a:pt x="259260" y="593168"/>
                  <a:pt x="287224" y="557048"/>
                </a:cubicBezTo>
                <a:cubicBezTo>
                  <a:pt x="343520" y="484332"/>
                  <a:pt x="400873" y="411867"/>
                  <a:pt x="465900" y="346841"/>
                </a:cubicBezTo>
                <a:cubicBezTo>
                  <a:pt x="579936" y="232806"/>
                  <a:pt x="529779" y="269222"/>
                  <a:pt x="602535" y="220717"/>
                </a:cubicBezTo>
                <a:cubicBezTo>
                  <a:pt x="613045" y="227724"/>
                  <a:pt x="632280" y="229233"/>
                  <a:pt x="634066" y="241738"/>
                </a:cubicBezTo>
                <a:cubicBezTo>
                  <a:pt x="636734" y="260415"/>
                  <a:pt x="621924" y="277643"/>
                  <a:pt x="613045" y="294290"/>
                </a:cubicBezTo>
                <a:cubicBezTo>
                  <a:pt x="593818" y="330340"/>
                  <a:pt x="568255" y="362850"/>
                  <a:pt x="549983" y="399393"/>
                </a:cubicBezTo>
                <a:cubicBezTo>
                  <a:pt x="519826" y="459707"/>
                  <a:pt x="537023" y="428000"/>
                  <a:pt x="497431" y="493986"/>
                </a:cubicBezTo>
                <a:cubicBezTo>
                  <a:pt x="467311" y="644593"/>
                  <a:pt x="509415" y="458035"/>
                  <a:pt x="465900" y="588579"/>
                </a:cubicBezTo>
                <a:cubicBezTo>
                  <a:pt x="425151" y="710826"/>
                  <a:pt x="487206" y="577501"/>
                  <a:pt x="434369" y="683172"/>
                </a:cubicBezTo>
                <a:cubicBezTo>
                  <a:pt x="412495" y="770671"/>
                  <a:pt x="439130" y="684161"/>
                  <a:pt x="402838" y="756745"/>
                </a:cubicBezTo>
                <a:cubicBezTo>
                  <a:pt x="382386" y="797649"/>
                  <a:pt x="402022" y="783175"/>
                  <a:pt x="381818" y="830317"/>
                </a:cubicBezTo>
                <a:cubicBezTo>
                  <a:pt x="376842" y="841928"/>
                  <a:pt x="368139" y="851569"/>
                  <a:pt x="360797" y="861848"/>
                </a:cubicBezTo>
                <a:cubicBezTo>
                  <a:pt x="295613" y="953106"/>
                  <a:pt x="357785" y="861112"/>
                  <a:pt x="308245" y="935421"/>
                </a:cubicBezTo>
                <a:cubicBezTo>
                  <a:pt x="304742" y="945931"/>
                  <a:pt x="300779" y="956299"/>
                  <a:pt x="297735" y="966952"/>
                </a:cubicBezTo>
                <a:cubicBezTo>
                  <a:pt x="293767" y="980841"/>
                  <a:pt x="293684" y="996073"/>
                  <a:pt x="287224" y="1008993"/>
                </a:cubicBezTo>
                <a:cubicBezTo>
                  <a:pt x="279390" y="1024661"/>
                  <a:pt x="265738" y="1036684"/>
                  <a:pt x="255693" y="1051035"/>
                </a:cubicBezTo>
                <a:cubicBezTo>
                  <a:pt x="241205" y="1071732"/>
                  <a:pt x="195788" y="1131961"/>
                  <a:pt x="213652" y="1114097"/>
                </a:cubicBezTo>
                <a:cubicBezTo>
                  <a:pt x="273761" y="1053988"/>
                  <a:pt x="220090" y="1114306"/>
                  <a:pt x="266204" y="1040524"/>
                </a:cubicBezTo>
                <a:cubicBezTo>
                  <a:pt x="275488" y="1025670"/>
                  <a:pt x="288018" y="1013058"/>
                  <a:pt x="297735" y="998483"/>
                </a:cubicBezTo>
                <a:cubicBezTo>
                  <a:pt x="309067" y="981485"/>
                  <a:pt x="317551" y="962667"/>
                  <a:pt x="329266" y="945931"/>
                </a:cubicBezTo>
                <a:cubicBezTo>
                  <a:pt x="342130" y="927553"/>
                  <a:pt x="358443" y="911757"/>
                  <a:pt x="371307" y="893379"/>
                </a:cubicBezTo>
                <a:cubicBezTo>
                  <a:pt x="383022" y="876644"/>
                  <a:pt x="390296" y="856953"/>
                  <a:pt x="402838" y="840828"/>
                </a:cubicBezTo>
                <a:cubicBezTo>
                  <a:pt x="415006" y="825184"/>
                  <a:pt x="432989" y="814641"/>
                  <a:pt x="444880" y="798786"/>
                </a:cubicBezTo>
                <a:cubicBezTo>
                  <a:pt x="464711" y="772345"/>
                  <a:pt x="474061" y="738075"/>
                  <a:pt x="497431" y="714704"/>
                </a:cubicBezTo>
                <a:cubicBezTo>
                  <a:pt x="507941" y="704193"/>
                  <a:pt x="519836" y="694905"/>
                  <a:pt x="528962" y="683172"/>
                </a:cubicBezTo>
                <a:cubicBezTo>
                  <a:pt x="544472" y="663230"/>
                  <a:pt x="549983" y="634124"/>
                  <a:pt x="571004" y="620110"/>
                </a:cubicBezTo>
                <a:cubicBezTo>
                  <a:pt x="615572" y="590399"/>
                  <a:pt x="591237" y="604739"/>
                  <a:pt x="644576" y="578069"/>
                </a:cubicBezTo>
                <a:cubicBezTo>
                  <a:pt x="648080" y="599090"/>
                  <a:pt x="659014" y="620185"/>
                  <a:pt x="655087" y="641131"/>
                </a:cubicBezTo>
                <a:cubicBezTo>
                  <a:pt x="648133" y="678218"/>
                  <a:pt x="627412" y="711344"/>
                  <a:pt x="613045" y="746235"/>
                </a:cubicBezTo>
                <a:cubicBezTo>
                  <a:pt x="602886" y="770907"/>
                  <a:pt x="592024" y="795283"/>
                  <a:pt x="581514" y="819807"/>
                </a:cubicBezTo>
                <a:cubicBezTo>
                  <a:pt x="571004" y="844331"/>
                  <a:pt x="561915" y="869514"/>
                  <a:pt x="549983" y="893379"/>
                </a:cubicBezTo>
                <a:cubicBezTo>
                  <a:pt x="528962" y="935421"/>
                  <a:pt x="511104" y="979198"/>
                  <a:pt x="486921" y="1019504"/>
                </a:cubicBezTo>
                <a:lnTo>
                  <a:pt x="423859" y="1124607"/>
                </a:lnTo>
                <a:cubicBezTo>
                  <a:pt x="401105" y="1215626"/>
                  <a:pt x="428968" y="1117091"/>
                  <a:pt x="392328" y="1208690"/>
                </a:cubicBezTo>
                <a:cubicBezTo>
                  <a:pt x="392321" y="1208707"/>
                  <a:pt x="366055" y="1287508"/>
                  <a:pt x="360797" y="1303283"/>
                </a:cubicBezTo>
                <a:cubicBezTo>
                  <a:pt x="358371" y="1310560"/>
                  <a:pt x="336478" y="1373557"/>
                  <a:pt x="339776" y="1376855"/>
                </a:cubicBezTo>
                <a:cubicBezTo>
                  <a:pt x="348708" y="1385787"/>
                  <a:pt x="360797" y="1362842"/>
                  <a:pt x="371307" y="1355835"/>
                </a:cubicBezTo>
                <a:lnTo>
                  <a:pt x="434369" y="1271752"/>
                </a:lnTo>
                <a:cubicBezTo>
                  <a:pt x="444879" y="1257738"/>
                  <a:pt x="453513" y="1242097"/>
                  <a:pt x="465900" y="1229710"/>
                </a:cubicBezTo>
                <a:cubicBezTo>
                  <a:pt x="476410" y="1219200"/>
                  <a:pt x="488791" y="1210274"/>
                  <a:pt x="497431" y="1198179"/>
                </a:cubicBezTo>
                <a:cubicBezTo>
                  <a:pt x="506538" y="1185430"/>
                  <a:pt x="510678" y="1169741"/>
                  <a:pt x="518452" y="1156138"/>
                </a:cubicBezTo>
                <a:cubicBezTo>
                  <a:pt x="539795" y="1118789"/>
                  <a:pt x="547283" y="1116797"/>
                  <a:pt x="581514" y="1082566"/>
                </a:cubicBezTo>
                <a:cubicBezTo>
                  <a:pt x="606504" y="1007594"/>
                  <a:pt x="571069" y="1098233"/>
                  <a:pt x="623555" y="1019504"/>
                </a:cubicBezTo>
                <a:cubicBezTo>
                  <a:pt x="629701" y="1010286"/>
                  <a:pt x="627920" y="997190"/>
                  <a:pt x="634066" y="987972"/>
                </a:cubicBezTo>
                <a:cubicBezTo>
                  <a:pt x="656560" y="954230"/>
                  <a:pt x="664070" y="956950"/>
                  <a:pt x="697128" y="945931"/>
                </a:cubicBezTo>
                <a:cubicBezTo>
                  <a:pt x="700631" y="959945"/>
                  <a:pt x="707638" y="973527"/>
                  <a:pt x="707638" y="987972"/>
                </a:cubicBezTo>
                <a:cubicBezTo>
                  <a:pt x="707638" y="1041049"/>
                  <a:pt x="694172" y="1042561"/>
                  <a:pt x="665597" y="1082566"/>
                </a:cubicBezTo>
                <a:cubicBezTo>
                  <a:pt x="658255" y="1092845"/>
                  <a:pt x="652663" y="1104393"/>
                  <a:pt x="644576" y="1114097"/>
                </a:cubicBezTo>
                <a:cubicBezTo>
                  <a:pt x="615520" y="1148964"/>
                  <a:pt x="611596" y="1138017"/>
                  <a:pt x="592024" y="1177159"/>
                </a:cubicBezTo>
                <a:cubicBezTo>
                  <a:pt x="590457" y="1180292"/>
                  <a:pt x="592024" y="1184166"/>
                  <a:pt x="592024" y="118766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03855F-B099-7B76-9404-D9879BBC7F31}"/>
              </a:ext>
            </a:extLst>
          </p:cNvPr>
          <p:cNvCxnSpPr>
            <a:cxnSpLocks/>
            <a:stCxn id="13" idx="70"/>
          </p:cNvCxnSpPr>
          <p:nvPr/>
        </p:nvCxnSpPr>
        <p:spPr>
          <a:xfrm flipH="1">
            <a:off x="9010898" y="2585545"/>
            <a:ext cx="6978" cy="620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DFFCA2-2ABF-C207-E106-3FB6DF0A4ACE}"/>
              </a:ext>
            </a:extLst>
          </p:cNvPr>
          <p:cNvSpPr txBox="1"/>
          <p:nvPr/>
        </p:nvSpPr>
        <p:spPr>
          <a:xfrm>
            <a:off x="7919314" y="3167390"/>
            <a:ext cx="2183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Colonies can be located in the intersection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CED46D-82FF-1842-3215-143D79BBF738}"/>
              </a:ext>
            </a:extLst>
          </p:cNvPr>
          <p:cNvSpPr txBox="1"/>
          <p:nvPr/>
        </p:nvSpPr>
        <p:spPr>
          <a:xfrm>
            <a:off x="6980592" y="3652347"/>
            <a:ext cx="4074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 cannot think of a nice way to perform this transformation on the location parameter</a:t>
            </a:r>
          </a:p>
        </p:txBody>
      </p:sp>
    </p:spTree>
    <p:extLst>
      <p:ext uri="{BB962C8B-B14F-4D97-AF65-F5344CB8AC3E}">
        <p14:creationId xmlns:p14="http://schemas.microsoft.com/office/powerpoint/2010/main" val="3308377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01276-03FE-BBF6-EAAF-CDF6A8E73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identifiability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5D414-A5EF-6E52-C0E1-D749FE435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99083" cy="4351338"/>
          </a:xfrm>
        </p:spPr>
        <p:txBody>
          <a:bodyPr/>
          <a:lstStyle/>
          <a:p>
            <a:r>
              <a:rPr lang="en-US" dirty="0"/>
              <a:t>Log likelihood is the same for different </a:t>
            </a:r>
            <a:r>
              <a:rPr lang="en-US" dirty="0" err="1"/>
              <a:t>Rmax</a:t>
            </a:r>
            <a:r>
              <a:rPr lang="en-US" dirty="0"/>
              <a:t> values – i.e., some parameters “trade-off” to equally explain the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876AFE-E122-F87A-AFC0-232135DCB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508" y="1825625"/>
            <a:ext cx="5940492" cy="452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500B1E-BB1C-4EE3-852F-5FB90E399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576" y="0"/>
            <a:ext cx="689304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62EA019-F859-E901-16FF-9CE14A243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375" y="0"/>
            <a:ext cx="4740880" cy="2605414"/>
          </a:xfrm>
        </p:spPr>
        <p:txBody>
          <a:bodyPr/>
          <a:lstStyle/>
          <a:p>
            <a:r>
              <a:rPr lang="en-US" dirty="0"/>
              <a:t>Are the data informative on the model?</a:t>
            </a:r>
          </a:p>
        </p:txBody>
      </p:sp>
    </p:spTree>
    <p:extLst>
      <p:ext uri="{BB962C8B-B14F-4D97-AF65-F5344CB8AC3E}">
        <p14:creationId xmlns:p14="http://schemas.microsoft.com/office/powerpoint/2010/main" val="3800070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3DF3E-E9EF-6E58-068D-C33FFD7A2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97"/>
            <a:ext cx="10515600" cy="1325563"/>
          </a:xfrm>
        </p:spPr>
        <p:txBody>
          <a:bodyPr/>
          <a:lstStyle/>
          <a:p>
            <a:r>
              <a:rPr lang="en-US" dirty="0"/>
              <a:t>Pairs plots – rho vs sigma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F1A5B-5ECA-26CB-AF81-5B64C2A0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851" y="1465545"/>
            <a:ext cx="6819655" cy="519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201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lue and green circles&#10;&#10;AI-generated content may be incorrect.">
            <a:extLst>
              <a:ext uri="{FF2B5EF4-FFF2-40B4-BE49-F238E27FC236}">
                <a16:creationId xmlns:a16="http://schemas.microsoft.com/office/drawing/2014/main" id="{906C2F0A-4E83-461A-2E01-76140448F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5" r="8806"/>
          <a:stretch>
            <a:fillRect/>
          </a:stretch>
        </p:blipFill>
        <p:spPr>
          <a:xfrm>
            <a:off x="-1" y="0"/>
            <a:ext cx="12192001" cy="64502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88A4AF-C3C4-3CF8-0107-88441B6F664D}"/>
              </a:ext>
            </a:extLst>
          </p:cNvPr>
          <p:cNvSpPr txBox="1"/>
          <p:nvPr/>
        </p:nvSpPr>
        <p:spPr>
          <a:xfrm>
            <a:off x="8723870" y="6450227"/>
            <a:ext cx="3372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“uniform” prior on distance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A5104F-AC4A-8A3A-C6B8-8F6FF872F71C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</p:spTree>
    <p:extLst>
      <p:ext uri="{BB962C8B-B14F-4D97-AF65-F5344CB8AC3E}">
        <p14:creationId xmlns:p14="http://schemas.microsoft.com/office/powerpoint/2010/main" val="2494711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DA2925-E907-4B97-DDB1-DBEFE5D0728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3944"/>
          <a:stretch>
            <a:fillRect/>
          </a:stretch>
        </p:blipFill>
        <p:spPr>
          <a:xfrm>
            <a:off x="14143" y="12310"/>
            <a:ext cx="12177857" cy="64502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9D999A-82CF-20C9-4AFC-E76B60B59CA6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87E-2870-385D-4139-E8073696BC19}"/>
              </a:ext>
            </a:extLst>
          </p:cNvPr>
          <p:cNvSpPr txBox="1"/>
          <p:nvPr/>
        </p:nvSpPr>
        <p:spPr>
          <a:xfrm>
            <a:off x="8723870" y="6450227"/>
            <a:ext cx="3502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</a:t>
            </a:r>
            <a:r>
              <a:rPr lang="en-US" dirty="0" err="1"/>
              <a:t>halfnormal</a:t>
            </a:r>
            <a:r>
              <a:rPr lang="en-US" dirty="0"/>
              <a:t> prior on distance</a:t>
            </a:r>
          </a:p>
        </p:txBody>
      </p:sp>
    </p:spTree>
    <p:extLst>
      <p:ext uri="{BB962C8B-B14F-4D97-AF65-F5344CB8AC3E}">
        <p14:creationId xmlns:p14="http://schemas.microsoft.com/office/powerpoint/2010/main" val="1073753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43A77D-44DF-C705-75F0-02B6AC097D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4335" y="0"/>
            <a:ext cx="14111416" cy="645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19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8981</TotalTime>
  <Words>516</Words>
  <Application>Microsoft Macintosh PowerPoint</Application>
  <PresentationFormat>Widescreen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Possible identifiability issues</vt:lpstr>
      <vt:lpstr>Are the data informative on the model?</vt:lpstr>
      <vt:lpstr>Pairs plots – rho vs sigma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jennamel@student.ubc.ca</dc:creator>
  <cp:lastModifiedBy>jennamel@student.ubc.ca</cp:lastModifiedBy>
  <cp:revision>8</cp:revision>
  <dcterms:created xsi:type="dcterms:W3CDTF">2026-01-14T18:20:54Z</dcterms:created>
  <dcterms:modified xsi:type="dcterms:W3CDTF">2026-02-05T23:45:37Z</dcterms:modified>
</cp:coreProperties>
</file>